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open with the core value: one platform for customer-service automation and product-feedback mining.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the business need before going into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from user inputs to outputs and then highlight the stack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screenshots to explain what users can actually do today in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both current outcomes and who owns each part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confidence and emphasize execution discipline for the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CE7CE7F-30F1-45CF-A48B-DDEA13BE6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C2DED02-B6D8-4ED1-8424-2B14392F3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29A8687-6252-4468-BE3A-DC15EAB9DB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043ED0-0F13-4227-96E4-3AB8F1E0BF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77E9FC4-A739-40F7-B482-0976A738556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0407E3-AF95-4F10-B6E3-7D0C38A106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B04BA2F-A07D-4688-85F7-0A5B39F28A9F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65A89D-2A47-42C2-976C-95A8A9E44B9B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AF169F-326B-4CDD-9DBF-6CBBAD020F8B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6286500" cy="466725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164E2A-3C7D-4319-A517-8B28C8B51F55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6286500" cy="95250"/>
          </a:xfrm>
          <a:prstGeom prst="rect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E2AD84-35B9-4EB4-B6B0-2F6A9CB91C12}"/>
              </a:ext>
            </a:extLst>
          </p:cNvPr>
          <p:cNvSpPr>
            <a:spLocks noGrp="1"/>
          </p:cNvSpPr>
          <p:nvPr/>
        </p:nvSpPr>
        <p:spPr>
          <a:xfrm>
            <a:off x="914400" y="1123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MIDTERM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2ED28E-9260-4C24-B436-288A9BC1EAE2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5619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2344A"/>
                </a:solidFill>
              </a:defRPr>
            </a:pPr>
            <a:r>
              <a:rPr sz="2850" b="1">
                <a:solidFill>
                  <a:srgbClr val="12344A"/>
                </a:solidFill>
              </a:rPr>
              <a:t>Automated Customer Service &amp; Review Sentiment Analysis System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8B7129-0833-48D5-9426-351B48B6F2E2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5334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7232E"/>
                </a:solidFill>
              </a:defRPr>
            </a:pPr>
            <a:r>
              <a:rPr sz="1500" b="0">
                <a:solidFill>
                  <a:srgbClr val="17232E"/>
                </a:solidFill>
              </a:rPr>
              <a:t>An AI-driven SaaS concept that reduces support cost and turns raw reviews into actionable business insight.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19BA2B4-78E4-4208-9231-B2ED23976F06}"/>
              </a:ext>
            </a:extLst>
          </p:cNvPr>
          <p:cNvSpPr>
            <a:spLocks noGrp="1"/>
          </p:cNvSpPr>
          <p:nvPr/>
        </p:nvSpPr>
        <p:spPr>
          <a:xfrm>
            <a:off x="933450" y="4076700"/>
            <a:ext cx="2576368" cy="1143000"/>
          </a:xfrm>
          <a:prstGeom prst="roundRect">
            <a:avLst>
              <a:gd name="adj" fmla="val 8511"/>
            </a:avLst>
          </a:prstGeom>
          <a:solidFill>
            <a:srgbClr val="D9F2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6AEC35-8A32-442E-9386-580FFDFD9EDD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Core Value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3ED436-C015-4208-B7C1-B83456331192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44A"/>
                </a:solidFill>
              </a:defRPr>
            </a:pPr>
            <a:r>
              <a:rPr sz="1350" b="1">
                <a:solidFill>
                  <a:srgbClr val="12344A"/>
                </a:solidFill>
              </a:rPr>
              <a:t>Lower support cost and surface product issues from reviews.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4C57C0-B71D-421E-98A9-83F67C989B2C}"/>
              </a:ext>
            </a:extLst>
          </p:cNvPr>
          <p:cNvSpPr>
            <a:spLocks noGrp="1"/>
          </p:cNvSpPr>
          <p:nvPr/>
        </p:nvSpPr>
        <p:spPr>
          <a:xfrm>
            <a:off x="7429500" y="990600"/>
            <a:ext cx="3810000" cy="4495800"/>
          </a:xfrm>
          <a:prstGeom prst="roundRect">
            <a:avLst>
              <a:gd name="adj" fmla="val 2000"/>
            </a:avLst>
          </a:prstGeom>
          <a:solidFill>
            <a:srgbClr val="123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8E5EDA-0CC7-41FA-A7ED-9239B9B860C4}"/>
              </a:ext>
            </a:extLst>
          </p:cNvPr>
          <p:cNvSpPr>
            <a:spLocks noGrp="1"/>
          </p:cNvSpPr>
          <p:nvPr/>
        </p:nvSpPr>
        <p:spPr>
          <a:xfrm>
            <a:off x="7753350" y="12573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Project Snapshot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025E72-CF82-4453-B3BD-4A4FD54A7D33}"/>
              </a:ext>
            </a:extLst>
          </p:cNvPr>
          <p:cNvSpPr>
            <a:spLocks noGrp="1"/>
          </p:cNvSpPr>
          <p:nvPr/>
        </p:nvSpPr>
        <p:spPr>
          <a:xfrm>
            <a:off x="7753350" y="18097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Two linked modules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A59CE6-B67B-4B6B-8D6B-7B022CA76796}"/>
              </a:ext>
            </a:extLst>
          </p:cNvPr>
          <p:cNvSpPr>
            <a:spLocks noGrp="1"/>
          </p:cNvSpPr>
          <p:nvPr/>
        </p:nvSpPr>
        <p:spPr>
          <a:xfrm>
            <a:off x="7753350" y="20574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1. Merchant-style assistant</a:t>
            </a:r>
          </a:p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2. Review sentiment analytics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B9711F-9EBB-408D-8300-CB66DBC1A86C}"/>
              </a:ext>
            </a:extLst>
          </p:cNvPr>
          <p:cNvSpPr>
            <a:spLocks noGrp="1"/>
          </p:cNvSpPr>
          <p:nvPr/>
        </p:nvSpPr>
        <p:spPr>
          <a:xfrm>
            <a:off x="7753350" y="29908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Current status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77328D-6CB4-4FD9-AFC6-EABD40507FD5}"/>
              </a:ext>
            </a:extLst>
          </p:cNvPr>
          <p:cNvSpPr>
            <a:spLocks noGrp="1"/>
          </p:cNvSpPr>
          <p:nvPr/>
        </p:nvSpPr>
        <p:spPr>
          <a:xfrm>
            <a:off x="7753350" y="3238500"/>
            <a:ext cx="2933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MVP completed.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About 50% overall progress.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Now entering RAG integration.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154094-0E8C-4A79-A628-A4B3DA579EBE}"/>
              </a:ext>
            </a:extLst>
          </p:cNvPr>
          <p:cNvSpPr>
            <a:spLocks noGrp="1"/>
          </p:cNvSpPr>
          <p:nvPr/>
        </p:nvSpPr>
        <p:spPr>
          <a:xfrm>
            <a:off x="7753350" y="40576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1B85C"/>
                </a:solidFill>
              </a:defRPr>
            </a:pPr>
            <a:r>
              <a:rPr sz="1050" b="1">
                <a:solidFill>
                  <a:srgbClr val="E1B85C"/>
                </a:solidFill>
              </a:rPr>
              <a:t>Key stack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2E12EA-27CB-4861-A4FA-A6BE8C9BFDD2}"/>
              </a:ext>
            </a:extLst>
          </p:cNvPr>
          <p:cNvSpPr>
            <a:spLocks noGrp="1"/>
          </p:cNvSpPr>
          <p:nvPr/>
        </p:nvSpPr>
        <p:spPr>
          <a:xfrm>
            <a:off x="7753350" y="4305300"/>
            <a:ext cx="29337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Streamlit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Pandas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Gemini / DeepSeek</a:t>
            </a: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RAG / vector database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151036-22E1-4525-B1CA-9BAE1040A63B}"/>
              </a:ext>
            </a:extLst>
          </p:cNvPr>
          <p:cNvSpPr>
            <a:spLocks noGrp="1"/>
          </p:cNvSpPr>
          <p:nvPr/>
        </p:nvSpPr>
        <p:spPr>
          <a:xfrm>
            <a:off x="666750" y="622935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1606C"/>
                </a:solidFill>
              </a:defRPr>
            </a:pPr>
            <a:r>
              <a:rPr sz="900" b="1">
                <a:solidFill>
                  <a:srgbClr val="51606C"/>
                </a:solidFill>
              </a:rPr>
              <a:t>LIU DEZHENG  |  LIU JIACHENG  |  ZHENG WENBIN  |  JI TENGFEI</a:t>
            </a:r>
          </a:p>
        </p:txBody>
      </p:sp>
    </p:spTree>
    <p:extLst>
      <p:ext uri="{BB962C8B-B14F-4D97-AF65-F5344CB8AC3E}">
        <p14:creationId xmlns:p14="http://schemas.microsoft.com/office/powerpoint/2010/main" val="171348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A6C329-C02C-4D74-A37C-1A509DA6F3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676A0FA-9AFC-4788-8A9F-7F334931BAFF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DC158AB-A547-4842-8921-85596C5AAEA9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36C863-C6DD-4343-A35C-DD8E2343E43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WHY NOW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17A768-CF4C-4F8E-804C-518298E95995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02 / 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7B71E1-DAC5-41F7-9595-21B5B04211C6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19050"/>
          </a:xfrm>
          <a:prstGeom prst="rect">
            <a:avLst/>
          </a:prstGeom>
          <a:solidFill>
            <a:srgbClr val="D7E0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983BBE3-2820-4CA2-9D64-1DE5001F240F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71450" cy="171450"/>
          </a:xfrm>
          <a:prstGeom prst="ellipse">
            <a:avLst/>
          </a:prstGeom>
          <a:solidFill>
            <a:srgbClr val="2AA889"/>
          </a:solidFill>
          <a:ln w="11430">
            <a:solidFill>
              <a:srgbClr val="1D7B6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6B9F2B-40E2-43C8-8A7E-9AA13EF57F94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The pain point is operational overload for small sellers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09CF2C-100C-49A0-9F09-E772E4024A0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06C"/>
                </a:solidFill>
              </a:defRPr>
            </a:pPr>
            <a:r>
              <a:rPr sz="1425" b="0">
                <a:solidFill>
                  <a:srgbClr val="51606C"/>
                </a:solidFill>
              </a:rPr>
              <a:t>Our project targets the gap between large volumes of inquiries and the limited ability to analyze product feedback.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726D7BF-0F3A-49EC-A883-26AF34500A15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3429000" cy="285749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AD8FF4-D1C4-47DE-97CA-A9EC0F37CDF6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3429000" cy="76200"/>
          </a:xfrm>
          <a:prstGeom prst="rect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65D944-8010-4DB1-AF45-7A9F4EE750B3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344A"/>
                </a:solidFill>
              </a:defRPr>
            </a:pPr>
            <a:r>
              <a:rPr sz="1425" b="1">
                <a:solidFill>
                  <a:srgbClr val="12344A"/>
                </a:solidFill>
              </a:rPr>
              <a:t>Business Pain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B4B7B0-B832-4673-9963-8784BE4A001A}"/>
              </a:ext>
            </a:extLst>
          </p:cNvPr>
          <p:cNvSpPr>
            <a:spLocks noGrp="1"/>
          </p:cNvSpPr>
          <p:nvPr/>
        </p:nvSpPr>
        <p:spPr>
          <a:xfrm>
            <a:off x="895350" y="3124200"/>
            <a:ext cx="29718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Too many repetitive customer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inquiries.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Too little capacity to read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large review sets.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Slow support and weak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visibility into product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issues.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053C318-ECC4-4287-AC4F-93F92981860A}"/>
              </a:ext>
            </a:extLst>
          </p:cNvPr>
          <p:cNvSpPr>
            <a:spLocks noGrp="1"/>
          </p:cNvSpPr>
          <p:nvPr/>
        </p:nvSpPr>
        <p:spPr>
          <a:xfrm>
            <a:off x="4381500" y="2362199"/>
            <a:ext cx="3429000" cy="2857499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A69652-C503-4038-A696-F5297FA7EB16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3429000" cy="76200"/>
          </a:xfrm>
          <a:prstGeom prst="rect">
            <a:avLst/>
          </a:prstGeom>
          <a:solidFill>
            <a:srgbClr val="E1B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DF0644-240F-4EA9-BCB5-1777B47E6BB5}"/>
              </a:ext>
            </a:extLst>
          </p:cNvPr>
          <p:cNvSpPr>
            <a:spLocks noGrp="1"/>
          </p:cNvSpPr>
          <p:nvPr/>
        </p:nvSpPr>
        <p:spPr>
          <a:xfrm>
            <a:off x="4591050" y="2552700"/>
            <a:ext cx="300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344A"/>
                </a:solidFill>
              </a:defRPr>
            </a:pPr>
            <a:r>
              <a:rPr sz="1425" b="1">
                <a:solidFill>
                  <a:srgbClr val="12344A"/>
                </a:solidFill>
              </a:rPr>
              <a:t>Opportunity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12B704-55EF-4CDE-BF85-BB89112D6005}"/>
              </a:ext>
            </a:extLst>
          </p:cNvPr>
          <p:cNvSpPr>
            <a:spLocks noGrp="1"/>
          </p:cNvSpPr>
          <p:nvPr/>
        </p:nvSpPr>
        <p:spPr>
          <a:xfrm>
            <a:off x="4610100" y="3124200"/>
            <a:ext cx="29718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Automate routine support while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preserving merchant tone.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Use sentiment analysis to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expose defect and return-risk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patterns.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Offer a lightweight SaaS tool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for smaller seller teams.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62273E6-981F-4A8C-AC2C-FAB3C5A15BA7}"/>
              </a:ext>
            </a:extLst>
          </p:cNvPr>
          <p:cNvSpPr>
            <a:spLocks noGrp="1"/>
          </p:cNvSpPr>
          <p:nvPr/>
        </p:nvSpPr>
        <p:spPr>
          <a:xfrm>
            <a:off x="8096250" y="2362200"/>
            <a:ext cx="3429000" cy="2857500"/>
          </a:xfrm>
          <a:prstGeom prst="roundRect">
            <a:avLst>
              <a:gd name="adj" fmla="val 3077"/>
            </a:avLst>
          </a:prstGeom>
          <a:solidFill>
            <a:srgbClr val="123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2A5460-1584-4D5F-B59E-E826D1BA6419}"/>
              </a:ext>
            </a:extLst>
          </p:cNvPr>
          <p:cNvSpPr>
            <a:spLocks noGrp="1"/>
          </p:cNvSpPr>
          <p:nvPr/>
        </p:nvSpPr>
        <p:spPr>
          <a:xfrm>
            <a:off x="8362950" y="2609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90BF6F-BABB-4DFA-B800-EF0DAB666BD1}"/>
              </a:ext>
            </a:extLst>
          </p:cNvPr>
          <p:cNvSpPr>
            <a:spLocks noGrp="1"/>
          </p:cNvSpPr>
          <p:nvPr/>
        </p:nvSpPr>
        <p:spPr>
          <a:xfrm>
            <a:off x="8362950" y="304800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Support automation + review mining creates a clear business loop: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8E6061-2A36-4FA1-AC5C-85FFE6304C01}"/>
              </a:ext>
            </a:extLst>
          </p:cNvPr>
          <p:cNvSpPr>
            <a:spLocks noGrp="1"/>
          </p:cNvSpPr>
          <p:nvPr/>
        </p:nvSpPr>
        <p:spPr>
          <a:xfrm>
            <a:off x="8362950" y="3562350"/>
            <a:ext cx="2190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faster response</a:t>
            </a:r>
          </a:p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clearer defect discovery</a:t>
            </a:r>
          </a:p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better iteration</a:t>
            </a:r>
          </a:p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• lower after-sales loss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70BFA9-4B28-4D02-97D9-DCFB02454ED7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B85C"/>
                </a:solidFill>
              </a:defRPr>
            </a:pPr>
            <a:r>
              <a:rPr sz="1200" b="1">
                <a:solidFill>
                  <a:srgbClr val="E1B85C"/>
                </a:solidFill>
              </a:rPr>
              <a:t>This project turns technical capability into visible commercial value.</a:t>
            </a:r>
          </a:p>
        </p:txBody>
      </p:sp>
    </p:spTree>
    <p:extLst>
      <p:ext uri="{BB962C8B-B14F-4D97-AF65-F5344CB8AC3E}">
        <p14:creationId xmlns:p14="http://schemas.microsoft.com/office/powerpoint/2010/main" val="188545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CB7000-62B7-4BAD-BE56-6B2B91CF4B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F6D7C02-B81C-4BBE-A82D-AED8B37CBB32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AEDD444-C77E-44F5-921F-2FDF8E682EFF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6C907A-31A5-4CDC-8565-8F519D40C15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SYSTEM DESIGN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7FDEB3-B18E-4BFF-8897-D8FE973FE043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03 / 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B49535-FF20-4F71-B808-425C41E17A6E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19050"/>
          </a:xfrm>
          <a:prstGeom prst="rect">
            <a:avLst/>
          </a:prstGeom>
          <a:solidFill>
            <a:srgbClr val="D7E0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FA77D8-F014-46D9-AD0D-5C552C3B4037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71450" cy="171450"/>
          </a:xfrm>
          <a:prstGeom prst="ellipse">
            <a:avLst/>
          </a:prstGeom>
          <a:solidFill>
            <a:srgbClr val="2AA889"/>
          </a:solidFill>
          <a:ln w="11430">
            <a:solidFill>
              <a:srgbClr val="1D7B6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14D055-2127-41DF-B9C8-8EDBF77F30A0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876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A dual-engine workflow connects service automation with insight generation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A0E2E0-E1CB-43F0-AE5D-AAD34A3096F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06C"/>
                </a:solidFill>
              </a:defRPr>
            </a:pPr>
            <a:r>
              <a:rPr sz="1425" b="0">
                <a:solidFill>
                  <a:srgbClr val="51606C"/>
                </a:solidFill>
              </a:rPr>
              <a:t>The solution combines a merchant-aligned customer assistant with an analytics pipeline built on LLMs, prompts, and retrieval.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575A745-8B50-4C26-9C70-3BA17B55D7A9}"/>
              </a:ext>
            </a:extLst>
          </p:cNvPr>
          <p:cNvSpPr>
            <a:spLocks noGrp="1"/>
          </p:cNvSpPr>
          <p:nvPr/>
        </p:nvSpPr>
        <p:spPr>
          <a:xfrm>
            <a:off x="666750" y="2305049"/>
            <a:ext cx="3314700" cy="287654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872805-F1C9-44B6-A339-BED67452C2E9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3314700" cy="76200"/>
          </a:xfrm>
          <a:prstGeom prst="rect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BFCF08-5E57-4B4A-9717-8960137CF78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2895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344A"/>
                </a:solidFill>
              </a:defRPr>
            </a:pPr>
            <a:r>
              <a:rPr sz="1425" b="1">
                <a:solidFill>
                  <a:srgbClr val="12344A"/>
                </a:solidFill>
              </a:rPr>
              <a:t>Module A: Customer Service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E28F87-75DA-47A3-8005-D62BFDE67282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28575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• Matches merchant tone and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applies return rules.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• Uses prompts and later RAG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retrieval for more consistent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answers.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• Goal: faster service with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 dirty="0">
                <a:solidFill>
                  <a:srgbClr val="17232E"/>
                </a:solidFill>
              </a:rPr>
              <a:t>fewer handoffs.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E1898C-2ADA-45E7-A289-D7725B83FBF9}"/>
              </a:ext>
            </a:extLst>
          </p:cNvPr>
          <p:cNvSpPr>
            <a:spLocks noGrp="1"/>
          </p:cNvSpPr>
          <p:nvPr/>
        </p:nvSpPr>
        <p:spPr>
          <a:xfrm>
            <a:off x="4438650" y="2305050"/>
            <a:ext cx="3352800" cy="28765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A24005-39BE-4D96-A04F-B5A6CF296619}"/>
              </a:ext>
            </a:extLst>
          </p:cNvPr>
          <p:cNvSpPr>
            <a:spLocks noGrp="1"/>
          </p:cNvSpPr>
          <p:nvPr/>
        </p:nvSpPr>
        <p:spPr>
          <a:xfrm>
            <a:off x="4438650" y="2305050"/>
            <a:ext cx="3314700" cy="76200"/>
          </a:xfrm>
          <a:prstGeom prst="rect">
            <a:avLst/>
          </a:prstGeom>
          <a:solidFill>
            <a:srgbClr val="E1B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BD834D-87AE-4480-B9FC-2B4476B5B9E8}"/>
              </a:ext>
            </a:extLst>
          </p:cNvPr>
          <p:cNvSpPr>
            <a:spLocks noGrp="1"/>
          </p:cNvSpPr>
          <p:nvPr/>
        </p:nvSpPr>
        <p:spPr>
          <a:xfrm>
            <a:off x="4648200" y="2495550"/>
            <a:ext cx="2895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344A"/>
                </a:solidFill>
              </a:defRPr>
            </a:pPr>
            <a:r>
              <a:rPr sz="1425" b="1">
                <a:solidFill>
                  <a:srgbClr val="12344A"/>
                </a:solidFill>
              </a:rPr>
              <a:t>Module B: Sentiment Analysis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6E8A1F-6B5E-4909-8C3E-54530A4D0708}"/>
              </a:ext>
            </a:extLst>
          </p:cNvPr>
          <p:cNvSpPr>
            <a:spLocks noGrp="1"/>
          </p:cNvSpPr>
          <p:nvPr/>
        </p:nvSpPr>
        <p:spPr>
          <a:xfrm>
            <a:off x="4667250" y="3067050"/>
            <a:ext cx="28575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Classifies review sentiment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and summarizes pain points.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Turns raw feedback into charts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and business insight.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• Goal: make iteration more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data-driven.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B90ECA-E611-43BA-BA75-53D1F259E7EA}"/>
              </a:ext>
            </a:extLst>
          </p:cNvPr>
          <p:cNvSpPr>
            <a:spLocks noGrp="1"/>
          </p:cNvSpPr>
          <p:nvPr/>
        </p:nvSpPr>
        <p:spPr>
          <a:xfrm>
            <a:off x="8210550" y="2305050"/>
            <a:ext cx="3314700" cy="28765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2B4BA2-8781-45AE-B80A-8B0EA6C19725}"/>
              </a:ext>
            </a:extLst>
          </p:cNvPr>
          <p:cNvSpPr>
            <a:spLocks noGrp="1"/>
          </p:cNvSpPr>
          <p:nvPr/>
        </p:nvSpPr>
        <p:spPr>
          <a:xfrm>
            <a:off x="8439150" y="25336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344A"/>
                </a:solidFill>
              </a:defRPr>
            </a:pPr>
            <a:r>
              <a:rPr sz="1650" b="1">
                <a:solidFill>
                  <a:srgbClr val="12344A"/>
                </a:solidFill>
              </a:rPr>
              <a:t>Implementation Stack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45BBE2-6009-4FEB-A9ED-61E52BC0D7E8}"/>
              </a:ext>
            </a:extLst>
          </p:cNvPr>
          <p:cNvSpPr>
            <a:spLocks noGrp="1"/>
          </p:cNvSpPr>
          <p:nvPr/>
        </p:nvSpPr>
        <p:spPr>
          <a:xfrm>
            <a:off x="8439150" y="29908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Frontend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2D4834-8598-49E4-84C4-3C33E3CC3E3A}"/>
              </a:ext>
            </a:extLst>
          </p:cNvPr>
          <p:cNvSpPr>
            <a:spLocks noGrp="1"/>
          </p:cNvSpPr>
          <p:nvPr/>
        </p:nvSpPr>
        <p:spPr>
          <a:xfrm>
            <a:off x="8439150" y="32004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32E"/>
                </a:solidFill>
              </a:defRPr>
            </a:pPr>
            <a:r>
              <a:rPr sz="1275" b="0">
                <a:solidFill>
                  <a:srgbClr val="17232E"/>
                </a:solidFill>
              </a:rPr>
              <a:t>Python, Streamlit,</a:t>
            </a:r>
          </a:p>
          <a:p>
            <a:pPr algn="l">
              <a:defRPr sz="1275" b="0">
                <a:solidFill>
                  <a:srgbClr val="17232E"/>
                </a:solidFill>
              </a:defRPr>
            </a:pPr>
            <a:r>
              <a:rPr sz="1275" b="0">
                <a:solidFill>
                  <a:srgbClr val="17232E"/>
                </a:solidFill>
              </a:rPr>
              <a:t>Altair, Pandas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4D3CC3-441E-4A22-BA9D-1F5065DA7AF1}"/>
              </a:ext>
            </a:extLst>
          </p:cNvPr>
          <p:cNvSpPr>
            <a:spLocks noGrp="1"/>
          </p:cNvSpPr>
          <p:nvPr/>
        </p:nvSpPr>
        <p:spPr>
          <a:xfrm>
            <a:off x="8439150" y="3581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Backend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3D97A0-5806-492D-B82B-2621098048C8}"/>
              </a:ext>
            </a:extLst>
          </p:cNvPr>
          <p:cNvSpPr>
            <a:spLocks noGrp="1"/>
          </p:cNvSpPr>
          <p:nvPr/>
        </p:nvSpPr>
        <p:spPr>
          <a:xfrm>
            <a:off x="8439150" y="3790950"/>
            <a:ext cx="266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Python, asyncio, httpx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for high-concurrency requests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4C31786-2A28-4FCD-B20D-65CB7F083026}"/>
              </a:ext>
            </a:extLst>
          </p:cNvPr>
          <p:cNvSpPr>
            <a:spLocks noGrp="1"/>
          </p:cNvSpPr>
          <p:nvPr/>
        </p:nvSpPr>
        <p:spPr>
          <a:xfrm>
            <a:off x="8439150" y="42672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AI + Retrieval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F63A75-2C45-454E-81DC-F851B329109F}"/>
              </a:ext>
            </a:extLst>
          </p:cNvPr>
          <p:cNvSpPr>
            <a:spLocks noGrp="1"/>
          </p:cNvSpPr>
          <p:nvPr/>
        </p:nvSpPr>
        <p:spPr>
          <a:xfrm>
            <a:off x="8439150" y="4476750"/>
            <a:ext cx="2667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Gemini, DeepSeek,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prompt engineering,</a:t>
            </a:r>
          </a:p>
          <a:p>
            <a:pPr algn="l">
              <a:defRPr sz="1200" b="0">
                <a:solidFill>
                  <a:srgbClr val="17232E"/>
                </a:solidFill>
              </a:defRPr>
            </a:pPr>
            <a:r>
              <a:rPr sz="1200" b="0">
                <a:solidFill>
                  <a:srgbClr val="17232E"/>
                </a:solidFill>
              </a:rPr>
              <a:t>RAG / vector database</a:t>
            </a:r>
          </a:p>
        </p:txBody>
      </p:sp>
    </p:spTree>
    <p:extLst>
      <p:ext uri="{BB962C8B-B14F-4D97-AF65-F5344CB8AC3E}">
        <p14:creationId xmlns:p14="http://schemas.microsoft.com/office/powerpoint/2010/main" val="175604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25E714-6581-4F1F-8582-DDD1AB1E8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0950E1F-4C63-4DC6-A0E8-B49DEE43A592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4939090-DE2F-4317-8FC0-E4D99B9DD470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90F43D-0391-4CF7-8F87-249D4611177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PROTOTYPE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4D2FBF-0348-465E-A832-799BA8B27FD4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04 / 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4D83F9-BAD1-4631-BFD5-C15B0B9B2EF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19050"/>
          </a:xfrm>
          <a:prstGeom prst="rect">
            <a:avLst/>
          </a:prstGeom>
          <a:solidFill>
            <a:srgbClr val="D7E0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B13E423-190F-48A2-95E2-2B69A891029B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71450" cy="171450"/>
          </a:xfrm>
          <a:prstGeom prst="ellipse">
            <a:avLst/>
          </a:prstGeom>
          <a:solidFill>
            <a:srgbClr val="2AA889"/>
          </a:solidFill>
          <a:ln w="11430">
            <a:solidFill>
              <a:srgbClr val="1D7B6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BD321B-58B4-43B5-A760-727B4CFD8725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The current prototype already covers the end-user workflow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96F7AE-83C5-4748-866F-D35AB9C33B8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06C"/>
                </a:solidFill>
              </a:defRPr>
            </a:pPr>
            <a:r>
              <a:rPr sz="1425" b="0">
                <a:solidFill>
                  <a:srgbClr val="51606C"/>
                </a:solidFill>
              </a:rPr>
              <a:t>Two interface views show the interaction flow and the analytics-oriented frontend experience.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2DA5C80-266E-4860-8AD7-999DA5C10777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51435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46C24D-2C01-4740-94C1-89E9989F734B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51435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2623283"/>
            <a:ext cx="4724400" cy="23924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300" y="2623283"/>
            <a:ext cx="4724400" cy="239248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798EA6B-8857-46EF-985A-85989872EB75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Prototype View A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64818D-DA94-40D4-976F-48AD6EBD0E86}"/>
              </a:ext>
            </a:extLst>
          </p:cNvPr>
          <p:cNvSpPr>
            <a:spLocks noGrp="1"/>
          </p:cNvSpPr>
          <p:nvPr/>
        </p:nvSpPr>
        <p:spPr>
          <a:xfrm>
            <a:off x="876300" y="55435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06C"/>
                </a:solidFill>
              </a:defRPr>
            </a:pPr>
            <a:r>
              <a:rPr sz="1125" b="0">
                <a:solidFill>
                  <a:srgbClr val="51606C"/>
                </a:solidFill>
              </a:rPr>
              <a:t>Shows the main interaction flow.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60D73B-5B31-4DA5-987B-5373B293128F}"/>
              </a:ext>
            </a:extLst>
          </p:cNvPr>
          <p:cNvSpPr>
            <a:spLocks noGrp="1"/>
          </p:cNvSpPr>
          <p:nvPr/>
        </p:nvSpPr>
        <p:spPr>
          <a:xfrm>
            <a:off x="6591300" y="53149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2344A"/>
                </a:solidFill>
              </a:defRPr>
            </a:pPr>
            <a:r>
              <a:rPr sz="1050" b="1">
                <a:solidFill>
                  <a:srgbClr val="12344A"/>
                </a:solidFill>
              </a:rPr>
              <a:t>Prototype View 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07BFC5-8158-490E-AEE3-E03DB44208A0}"/>
              </a:ext>
            </a:extLst>
          </p:cNvPr>
          <p:cNvSpPr>
            <a:spLocks noGrp="1"/>
          </p:cNvSpPr>
          <p:nvPr/>
        </p:nvSpPr>
        <p:spPr>
          <a:xfrm>
            <a:off x="6591300" y="55435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06C"/>
                </a:solidFill>
              </a:defRPr>
            </a:pPr>
            <a:r>
              <a:rPr sz="1125" b="0">
                <a:solidFill>
                  <a:srgbClr val="51606C"/>
                </a:solidFill>
              </a:rPr>
              <a:t>Shows the analytics-oriented frontend.</a:t>
            </a:r>
          </a:p>
        </p:txBody>
      </p:sp>
    </p:spTree>
    <p:extLst>
      <p:ext uri="{BB962C8B-B14F-4D97-AF65-F5344CB8AC3E}">
        <p14:creationId xmlns:p14="http://schemas.microsoft.com/office/powerpoint/2010/main" val="134309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C73A98-A4A9-4C73-9408-4C5AD20E6F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95154A-B6AF-4E4A-8738-CCA8961F2C2D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A8F0063-780C-4402-B035-8E9E13A13F06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9C6875-2542-4635-8436-DC18B18746C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PROGRESS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60FA2F-DE25-4E36-8FBD-8E88793D8EC6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05 / 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2E9B37-57A3-4B47-8ABC-099E4DCA56CF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19050"/>
          </a:xfrm>
          <a:prstGeom prst="rect">
            <a:avLst/>
          </a:prstGeom>
          <a:solidFill>
            <a:srgbClr val="D7E0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E973082-E5BE-4E32-A765-80D1BA7DB310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71450" cy="171450"/>
          </a:xfrm>
          <a:prstGeom prst="ellipse">
            <a:avLst/>
          </a:prstGeom>
          <a:solidFill>
            <a:srgbClr val="2AA889"/>
          </a:solidFill>
          <a:ln w="11430">
            <a:solidFill>
              <a:srgbClr val="1D7B6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762C69-79E8-4652-B3A1-0FF88CED685D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8477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The team has reached the MVP stage with measurable progress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2636AF-30E2-4A03-B634-E6064FC0909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06C"/>
                </a:solidFill>
              </a:defRPr>
            </a:pPr>
            <a:r>
              <a:rPr sz="1425" b="0">
                <a:solidFill>
                  <a:srgbClr val="51606C"/>
                </a:solidFill>
              </a:rPr>
              <a:t>We have working prompts, concurrency handling, a golden dataset, and a usable UI while preparing the formal RAG layer.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4BE35D3-6630-44AD-9065-82196ED6FB8D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2000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D66233-88CB-4CA1-B9AA-956FEE745DA2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2000250" cy="66675"/>
          </a:xfrm>
          <a:prstGeom prst="rect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58FFE-351A-44AC-97B6-09756D3FB71B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50%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40858B-B583-4735-B5C3-2D7E980FFDDC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32E"/>
                </a:solidFill>
              </a:defRPr>
            </a:pPr>
            <a:r>
              <a:rPr sz="1275" b="0">
                <a:solidFill>
                  <a:srgbClr val="17232E"/>
                </a:solidFill>
              </a:rPr>
              <a:t>Overall progress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89F2D2-61D4-451A-B047-AAB0714887CB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6C"/>
                </a:solidFill>
              </a:defRPr>
            </a:pPr>
            <a:r>
              <a:rPr sz="975" b="0">
                <a:solidFill>
                  <a:srgbClr val="51606C"/>
                </a:solidFill>
              </a:rPr>
              <a:t>Stages 1-2 completed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FE1EB7-16E7-483A-846A-1224D9B37148}"/>
              </a:ext>
            </a:extLst>
          </p:cNvPr>
          <p:cNvSpPr>
            <a:spLocks noGrp="1"/>
          </p:cNvSpPr>
          <p:nvPr/>
        </p:nvSpPr>
        <p:spPr>
          <a:xfrm>
            <a:off x="2857500" y="2286000"/>
            <a:ext cx="2000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EA4E6D-070A-43FB-96C1-9283A9A8B3B6}"/>
              </a:ext>
            </a:extLst>
          </p:cNvPr>
          <p:cNvSpPr>
            <a:spLocks noGrp="1"/>
          </p:cNvSpPr>
          <p:nvPr/>
        </p:nvSpPr>
        <p:spPr>
          <a:xfrm>
            <a:off x="2857500" y="2286000"/>
            <a:ext cx="2000250" cy="66675"/>
          </a:xfrm>
          <a:prstGeom prst="rect">
            <a:avLst/>
          </a:prstGeom>
          <a:solidFill>
            <a:srgbClr val="E1B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855B24-54AF-4CC2-B3CD-8F9B9D33D4C2}"/>
              </a:ext>
            </a:extLst>
          </p:cNvPr>
          <p:cNvSpPr>
            <a:spLocks noGrp="1"/>
          </p:cNvSpPr>
          <p:nvPr/>
        </p:nvSpPr>
        <p:spPr>
          <a:xfrm>
            <a:off x="3048000" y="24955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200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B093F6-6630-43D4-A710-FEFA3DF8100E}"/>
              </a:ext>
            </a:extLst>
          </p:cNvPr>
          <p:cNvSpPr>
            <a:spLocks noGrp="1"/>
          </p:cNvSpPr>
          <p:nvPr/>
        </p:nvSpPr>
        <p:spPr>
          <a:xfrm>
            <a:off x="3048000" y="2952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32E"/>
                </a:solidFill>
              </a:defRPr>
            </a:pPr>
            <a:r>
              <a:rPr sz="1275" b="0">
                <a:solidFill>
                  <a:srgbClr val="17232E"/>
                </a:solidFill>
              </a:rPr>
              <a:t>Golden dataset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10D544-F28C-4534-9810-2E1014F54F8D}"/>
              </a:ext>
            </a:extLst>
          </p:cNvPr>
          <p:cNvSpPr>
            <a:spLocks noGrp="1"/>
          </p:cNvSpPr>
          <p:nvPr/>
        </p:nvSpPr>
        <p:spPr>
          <a:xfrm>
            <a:off x="3048000" y="32956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6C"/>
                </a:solidFill>
              </a:defRPr>
            </a:pPr>
            <a:r>
              <a:rPr sz="975" b="0">
                <a:solidFill>
                  <a:srgbClr val="51606C"/>
                </a:solidFill>
              </a:rPr>
              <a:t>Validation set ready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AFFAED0-F686-4DBE-8E67-C367664500FA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2000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CA5964-CF71-4648-8416-D38A292EE813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2000250" cy="66675"/>
          </a:xfrm>
          <a:prstGeom prst="rect">
            <a:avLst/>
          </a:prstGeom>
          <a:solidFill>
            <a:srgbClr val="E3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73D673-BC4A-4A44-8F13-E03B60789BE1}"/>
              </a:ext>
            </a:extLst>
          </p:cNvPr>
          <p:cNvSpPr>
            <a:spLocks noGrp="1"/>
          </p:cNvSpPr>
          <p:nvPr/>
        </p:nvSpPr>
        <p:spPr>
          <a:xfrm>
            <a:off x="5238750" y="24955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80%+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85DB26-5C33-4ACC-BFA8-C520A60C6780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32E"/>
                </a:solidFill>
              </a:defRPr>
            </a:pPr>
            <a:r>
              <a:rPr sz="1275" b="0">
                <a:solidFill>
                  <a:srgbClr val="17232E"/>
                </a:solidFill>
              </a:rPr>
              <a:t>Sentiment accuracy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874F51-14F4-4338-B6CD-A95773896FDC}"/>
              </a:ext>
            </a:extLst>
          </p:cNvPr>
          <p:cNvSpPr>
            <a:spLocks noGrp="1"/>
          </p:cNvSpPr>
          <p:nvPr/>
        </p:nvSpPr>
        <p:spPr>
          <a:xfrm>
            <a:off x="5238750" y="32956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6C"/>
                </a:solidFill>
              </a:defRPr>
            </a:pPr>
            <a:r>
              <a:rPr sz="975" b="0">
                <a:solidFill>
                  <a:srgbClr val="51606C"/>
                </a:solidFill>
              </a:rPr>
              <a:t>V2.0 prompt result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602DC88-CDBE-448E-BCCD-B3B87DDB04C0}"/>
              </a:ext>
            </a:extLst>
          </p:cNvPr>
          <p:cNvSpPr>
            <a:spLocks noGrp="1"/>
          </p:cNvSpPr>
          <p:nvPr/>
        </p:nvSpPr>
        <p:spPr>
          <a:xfrm>
            <a:off x="7334250" y="2286000"/>
            <a:ext cx="4191000" cy="1428750"/>
          </a:xfrm>
          <a:prstGeom prst="roundRect">
            <a:avLst>
              <a:gd name="adj" fmla="val 5333"/>
            </a:avLst>
          </a:prstGeom>
          <a:solidFill>
            <a:srgbClr val="123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3EE0D9-D712-4382-B060-17F88AE9B741}"/>
              </a:ext>
            </a:extLst>
          </p:cNvPr>
          <p:cNvSpPr>
            <a:spLocks noGrp="1"/>
          </p:cNvSpPr>
          <p:nvPr/>
        </p:nvSpPr>
        <p:spPr>
          <a:xfrm>
            <a:off x="7581900" y="25336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Current milestone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B7C511-DDA1-4C25-937D-FE054B2786C2}"/>
              </a:ext>
            </a:extLst>
          </p:cNvPr>
          <p:cNvSpPr>
            <a:spLocks noGrp="1"/>
          </p:cNvSpPr>
          <p:nvPr/>
        </p:nvSpPr>
        <p:spPr>
          <a:xfrm>
            <a:off x="7581900" y="2914650"/>
            <a:ext cx="3429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Rate-limit handling, merchant tone cloning, and the UI mockup are done.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The team is now moving into scalable RAG integration.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62C9282-1DFB-4106-8755-E150431E26CE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2571750" cy="1752600"/>
          </a:xfrm>
          <a:prstGeom prst="roundRect">
            <a:avLst>
              <a:gd name="adj" fmla="val 4348"/>
            </a:avLst>
          </a:prstGeom>
          <a:solidFill>
            <a:srgbClr val="EEF3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3B2E201-4DBB-4352-80E0-A455B2C9191A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114300" cy="114300"/>
          </a:xfrm>
          <a:prstGeom prst="ellipse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37B8EC-0B21-4113-A945-A4CA11FCD197}"/>
              </a:ext>
            </a:extLst>
          </p:cNvPr>
          <p:cNvSpPr>
            <a:spLocks noGrp="1"/>
          </p:cNvSpPr>
          <p:nvPr/>
        </p:nvSpPr>
        <p:spPr>
          <a:xfrm>
            <a:off x="1047750" y="42100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344A"/>
                </a:solidFill>
              </a:defRPr>
            </a:pPr>
            <a:r>
              <a:rPr sz="1125" b="1">
                <a:solidFill>
                  <a:srgbClr val="12344A"/>
                </a:solidFill>
              </a:rPr>
              <a:t>LIU DEZHENG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0296F4-9200-4E68-84C5-C926138332B5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Backend Developer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3F6AEB-F390-4025-ACA5-3E6F283151B8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22288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System architecture, Gemini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and DeepSeek integration,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and concurrency controls.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E2CC61-9AE5-4DD5-BE49-E19784319D56}"/>
              </a:ext>
            </a:extLst>
          </p:cNvPr>
          <p:cNvSpPr>
            <a:spLocks noGrp="1"/>
          </p:cNvSpPr>
          <p:nvPr/>
        </p:nvSpPr>
        <p:spPr>
          <a:xfrm>
            <a:off x="3429000" y="4095750"/>
            <a:ext cx="2571750" cy="1752600"/>
          </a:xfrm>
          <a:prstGeom prst="roundRect">
            <a:avLst>
              <a:gd name="adj" fmla="val 4348"/>
            </a:avLst>
          </a:prstGeom>
          <a:solidFill>
            <a:srgbClr val="EEF3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A6883AD-0FF7-41FE-B473-2C8BE93361CA}"/>
              </a:ext>
            </a:extLst>
          </p:cNvPr>
          <p:cNvSpPr>
            <a:spLocks noGrp="1"/>
          </p:cNvSpPr>
          <p:nvPr/>
        </p:nvSpPr>
        <p:spPr>
          <a:xfrm>
            <a:off x="3600450" y="4248150"/>
            <a:ext cx="114300" cy="114300"/>
          </a:xfrm>
          <a:prstGeom prst="ellipse">
            <a:avLst/>
          </a:prstGeom>
          <a:solidFill>
            <a:srgbClr val="E1B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39C16D-1B19-4FB2-BFAB-48E50B3D493F}"/>
              </a:ext>
            </a:extLst>
          </p:cNvPr>
          <p:cNvSpPr>
            <a:spLocks noGrp="1"/>
          </p:cNvSpPr>
          <p:nvPr/>
        </p:nvSpPr>
        <p:spPr>
          <a:xfrm>
            <a:off x="3810000" y="42100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344A"/>
                </a:solidFill>
              </a:defRPr>
            </a:pPr>
            <a:r>
              <a:rPr sz="1125" b="1">
                <a:solidFill>
                  <a:srgbClr val="12344A"/>
                </a:solidFill>
              </a:rPr>
              <a:t>LIU JIACHENG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0CB3B8-D467-42CF-A2FD-2ED03916E5C7}"/>
              </a:ext>
            </a:extLst>
          </p:cNvPr>
          <p:cNvSpPr>
            <a:spLocks noGrp="1"/>
          </p:cNvSpPr>
          <p:nvPr/>
        </p:nvSpPr>
        <p:spPr>
          <a:xfrm>
            <a:off x="3810000" y="44196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Frontend Developer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B25DEEF-D650-4CEB-8A90-68ABB9663E2A}"/>
              </a:ext>
            </a:extLst>
          </p:cNvPr>
          <p:cNvSpPr>
            <a:spLocks noGrp="1"/>
          </p:cNvSpPr>
          <p:nvPr/>
        </p:nvSpPr>
        <p:spPr>
          <a:xfrm>
            <a:off x="3600450" y="4724400"/>
            <a:ext cx="22288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Streamlit interface, Pandas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cleaning, and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business-facing charts.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D4A9774-4858-40EE-8612-538796087EEE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2571750" cy="1752600"/>
          </a:xfrm>
          <a:prstGeom prst="roundRect">
            <a:avLst>
              <a:gd name="adj" fmla="val 4348"/>
            </a:avLst>
          </a:prstGeom>
          <a:solidFill>
            <a:srgbClr val="EEF3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6B3A05E-7B15-4F94-8375-57A4C288421A}"/>
              </a:ext>
            </a:extLst>
          </p:cNvPr>
          <p:cNvSpPr>
            <a:spLocks noGrp="1"/>
          </p:cNvSpPr>
          <p:nvPr/>
        </p:nvSpPr>
        <p:spPr>
          <a:xfrm>
            <a:off x="6362700" y="4248150"/>
            <a:ext cx="114300" cy="114300"/>
          </a:xfrm>
          <a:prstGeom prst="ellipse">
            <a:avLst/>
          </a:prstGeom>
          <a:solidFill>
            <a:srgbClr val="E3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006F096-38CE-4B68-92E2-F9AADA03AA95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344A"/>
                </a:solidFill>
              </a:defRPr>
            </a:pPr>
            <a:r>
              <a:rPr sz="1125" b="1">
                <a:solidFill>
                  <a:srgbClr val="12344A"/>
                </a:solidFill>
              </a:rPr>
              <a:t>ZHENG WENBIN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E80B571-A15E-4126-B929-6904D1768635}"/>
              </a:ext>
            </a:extLst>
          </p:cNvPr>
          <p:cNvSpPr>
            <a:spLocks noGrp="1"/>
          </p:cNvSpPr>
          <p:nvPr/>
        </p:nvSpPr>
        <p:spPr>
          <a:xfrm>
            <a:off x="6572250" y="44196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Prompt Engineer &amp; Tester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B2D3E2C-BCBE-4E8A-B629-C168B2E76986}"/>
              </a:ext>
            </a:extLst>
          </p:cNvPr>
          <p:cNvSpPr>
            <a:spLocks noGrp="1"/>
          </p:cNvSpPr>
          <p:nvPr/>
        </p:nvSpPr>
        <p:spPr>
          <a:xfrm>
            <a:off x="6362700" y="4724400"/>
            <a:ext cx="22288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Prompt iteration, validation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datasets, and defensive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prompting.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D9DCCB7-93D9-4CC1-BDC0-CE1228706E4F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2571750" cy="1752600"/>
          </a:xfrm>
          <a:prstGeom prst="roundRect">
            <a:avLst>
              <a:gd name="adj" fmla="val 4348"/>
            </a:avLst>
          </a:prstGeom>
          <a:solidFill>
            <a:srgbClr val="EEF3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1771BAF-C854-4D42-BCBD-43B903AE6AC8}"/>
              </a:ext>
            </a:extLst>
          </p:cNvPr>
          <p:cNvSpPr>
            <a:spLocks noGrp="1"/>
          </p:cNvSpPr>
          <p:nvPr/>
        </p:nvSpPr>
        <p:spPr>
          <a:xfrm>
            <a:off x="9124950" y="4248150"/>
            <a:ext cx="114300" cy="114300"/>
          </a:xfrm>
          <a:prstGeom prst="ellipse">
            <a:avLst/>
          </a:prstGeom>
          <a:solidFill>
            <a:srgbClr val="1D7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FE8C594-41F1-4322-AD1A-14C0D298D540}"/>
              </a:ext>
            </a:extLst>
          </p:cNvPr>
          <p:cNvSpPr>
            <a:spLocks noGrp="1"/>
          </p:cNvSpPr>
          <p:nvPr/>
        </p:nvSpPr>
        <p:spPr>
          <a:xfrm>
            <a:off x="9334500" y="42100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2344A"/>
                </a:solidFill>
              </a:defRPr>
            </a:pPr>
            <a:r>
              <a:rPr sz="1125" b="1">
                <a:solidFill>
                  <a:srgbClr val="12344A"/>
                </a:solidFill>
              </a:rPr>
              <a:t>JI TENGFEI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BCAA3D-CF08-4EEE-B62C-73CC671F633A}"/>
              </a:ext>
            </a:extLst>
          </p:cNvPr>
          <p:cNvSpPr>
            <a:spLocks noGrp="1"/>
          </p:cNvSpPr>
          <p:nvPr/>
        </p:nvSpPr>
        <p:spPr>
          <a:xfrm>
            <a:off x="9334500" y="44196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D7B66"/>
                </a:solidFill>
              </a:defRPr>
            </a:pPr>
            <a:r>
              <a:rPr sz="900" b="1">
                <a:solidFill>
                  <a:srgbClr val="1D7B66"/>
                </a:solidFill>
              </a:rPr>
              <a:t>Data Collection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B5461BD-2943-4715-923B-D73AEDD22FB0}"/>
              </a:ext>
            </a:extLst>
          </p:cNvPr>
          <p:cNvSpPr>
            <a:spLocks noGrp="1"/>
          </p:cNvSpPr>
          <p:nvPr/>
        </p:nvSpPr>
        <p:spPr>
          <a:xfrm>
            <a:off x="9124950" y="4724400"/>
            <a:ext cx="22288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Review collection, baseline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annotation, and merchant</a:t>
            </a:r>
          </a:p>
          <a:p>
            <a:pPr algn="l">
              <a:defRPr sz="1050" b="0">
                <a:solidFill>
                  <a:srgbClr val="17232E"/>
                </a:solidFill>
              </a:defRPr>
            </a:pPr>
            <a:r>
              <a:rPr sz="1050" b="0">
                <a:solidFill>
                  <a:srgbClr val="17232E"/>
                </a:solidFill>
              </a:rPr>
              <a:t>knowledge prep.</a:t>
            </a:r>
          </a:p>
        </p:txBody>
      </p:sp>
    </p:spTree>
    <p:extLst>
      <p:ext uri="{BB962C8B-B14F-4D97-AF65-F5344CB8AC3E}">
        <p14:creationId xmlns:p14="http://schemas.microsoft.com/office/powerpoint/2010/main" val="175936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8EDA573F-AD66-4B3A-86F9-CD9A8F6080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9687D1-0BE6-49A4-8585-9ED7F0E926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F2A696F-354A-4A05-A1D6-77F7A8FF968C}"/>
              </a:ext>
            </a:extLst>
          </p:cNvPr>
          <p:cNvSpPr>
            <a:spLocks noGrp="1"/>
          </p:cNvSpPr>
          <p:nvPr/>
        </p:nvSpPr>
        <p:spPr>
          <a:xfrm>
            <a:off x="9525000" y="-1238250"/>
            <a:ext cx="3429000" cy="3429000"/>
          </a:xfrm>
          <a:prstGeom prst="ellipse">
            <a:avLst/>
          </a:prstGeom>
          <a:solidFill>
            <a:srgbClr val="D9F2EC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2CE532F-7A76-481B-B141-293BC514E32F}"/>
              </a:ext>
            </a:extLst>
          </p:cNvPr>
          <p:cNvSpPr>
            <a:spLocks noGrp="1"/>
          </p:cNvSpPr>
          <p:nvPr/>
        </p:nvSpPr>
        <p:spPr>
          <a:xfrm>
            <a:off x="-1047750" y="5334000"/>
            <a:ext cx="2667000" cy="2667000"/>
          </a:xfrm>
          <a:prstGeom prst="ellipse">
            <a:avLst/>
          </a:prstGeom>
          <a:solidFill>
            <a:srgbClr val="E9E2D5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F3B97D-586A-4BB4-9C3B-480A1ED043F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NEXT STEP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8205D1-66E8-4A47-AA54-57E46AC7629F}"/>
              </a:ext>
            </a:extLst>
          </p:cNvPr>
          <p:cNvSpPr>
            <a:spLocks noGrp="1"/>
          </p:cNvSpPr>
          <p:nvPr/>
        </p:nvSpPr>
        <p:spPr>
          <a:xfrm>
            <a:off x="10668000" y="4000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D7B66"/>
                </a:solidFill>
              </a:defRPr>
            </a:pPr>
            <a:r>
              <a:rPr sz="975" b="1">
                <a:solidFill>
                  <a:srgbClr val="1D7B66"/>
                </a:solidFill>
              </a:rPr>
              <a:t>06 / 06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E087BB-A2FE-43EA-AFDA-4F2C5988B055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858500" cy="19050"/>
          </a:xfrm>
          <a:prstGeom prst="rect">
            <a:avLst/>
          </a:prstGeom>
          <a:solidFill>
            <a:srgbClr val="D7E0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E02D4B1-CB49-4998-99BB-AC82D849D5E5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171450" cy="171450"/>
          </a:xfrm>
          <a:prstGeom prst="ellipse">
            <a:avLst/>
          </a:prstGeom>
          <a:solidFill>
            <a:srgbClr val="2AA889"/>
          </a:solidFill>
          <a:ln w="11430">
            <a:solidFill>
              <a:srgbClr val="1D7B6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CDA354-016C-4468-B71F-291BED98DEDE}"/>
              </a:ext>
            </a:extLst>
          </p:cNvPr>
          <p:cNvSpPr>
            <a:spLocks noGrp="1"/>
          </p:cNvSpPr>
          <p:nvPr/>
        </p:nvSpPr>
        <p:spPr>
          <a:xfrm>
            <a:off x="666750" y="914400"/>
            <a:ext cx="876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2344A"/>
                </a:solidFill>
              </a:defRPr>
            </a:pPr>
            <a:r>
              <a:rPr sz="2550" b="1">
                <a:solidFill>
                  <a:srgbClr val="12344A"/>
                </a:solidFill>
              </a:rPr>
              <a:t>The next milestone is a reliable, presentation-ready final system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59CDA-3B03-4A3E-B72F-3A6F2BFE10C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8191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1606C"/>
                </a:solidFill>
              </a:defRPr>
            </a:pPr>
            <a:r>
              <a:rPr sz="1425" b="0">
                <a:solidFill>
                  <a:srgbClr val="51606C"/>
                </a:solidFill>
              </a:rPr>
              <a:t>The roadmap focuses on RAG integration, stress testing, UI polish, and a strong final demonstration package.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FAEB3F-0C0B-42D0-92D4-38B143CB8D90}"/>
              </a:ext>
            </a:extLst>
          </p:cNvPr>
          <p:cNvSpPr>
            <a:spLocks noGrp="1"/>
          </p:cNvSpPr>
          <p:nvPr/>
        </p:nvSpPr>
        <p:spPr>
          <a:xfrm>
            <a:off x="1390650" y="3067050"/>
            <a:ext cx="9334500" cy="38100"/>
          </a:xfrm>
          <a:prstGeom prst="rect">
            <a:avLst/>
          </a:prstGeom>
          <a:solidFill>
            <a:srgbClr val="BFD3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63CBB8-13AA-448A-831B-C10FFF4801F9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B4C38EE-7181-45EA-B5D6-06D2CD427FD7}"/>
              </a:ext>
            </a:extLst>
          </p:cNvPr>
          <p:cNvSpPr>
            <a:spLocks noGrp="1"/>
          </p:cNvSpPr>
          <p:nvPr/>
        </p:nvSpPr>
        <p:spPr>
          <a:xfrm>
            <a:off x="1028700" y="2514600"/>
            <a:ext cx="266700" cy="266700"/>
          </a:xfrm>
          <a:prstGeom prst="ellipse">
            <a:avLst/>
          </a:prstGeom>
          <a:solidFill>
            <a:srgbClr val="2AA8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227583-A7C1-4DD3-B45C-23EB0BC68571}"/>
              </a:ext>
            </a:extLst>
          </p:cNvPr>
          <p:cNvSpPr>
            <a:spLocks noGrp="1"/>
          </p:cNvSpPr>
          <p:nvPr/>
        </p:nvSpPr>
        <p:spPr>
          <a:xfrm>
            <a:off x="1428750" y="24955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344A"/>
                </a:solidFill>
              </a:defRPr>
            </a:pPr>
            <a:r>
              <a:rPr sz="1500" b="1">
                <a:solidFill>
                  <a:srgbClr val="12344A"/>
                </a:solidFill>
              </a:rPr>
              <a:t>RAG Integration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6FE354-F214-4F2C-8E05-F28034C3A5F1}"/>
              </a:ext>
            </a:extLst>
          </p:cNvPr>
          <p:cNvSpPr>
            <a:spLocks noGrp="1"/>
          </p:cNvSpPr>
          <p:nvPr/>
        </p:nvSpPr>
        <p:spPr>
          <a:xfrm>
            <a:off x="1028700" y="2895600"/>
            <a:ext cx="1943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Build the vector database and</a:t>
            </a:r>
          </a:p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validate retrieval quality.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E3AEDC-CB22-493E-B255-CEF7C019FE3D}"/>
              </a:ext>
            </a:extLst>
          </p:cNvPr>
          <p:cNvSpPr>
            <a:spLocks noGrp="1"/>
          </p:cNvSpPr>
          <p:nvPr/>
        </p:nvSpPr>
        <p:spPr>
          <a:xfrm>
            <a:off x="3390900" y="2343150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D51E789-97AF-4F67-B115-4E0E9C83277F}"/>
              </a:ext>
            </a:extLst>
          </p:cNvPr>
          <p:cNvSpPr>
            <a:spLocks noGrp="1"/>
          </p:cNvSpPr>
          <p:nvPr/>
        </p:nvSpPr>
        <p:spPr>
          <a:xfrm>
            <a:off x="3562350" y="2514600"/>
            <a:ext cx="266700" cy="266700"/>
          </a:xfrm>
          <a:prstGeom prst="ellipse">
            <a:avLst/>
          </a:prstGeom>
          <a:solidFill>
            <a:srgbClr val="E1B8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439F9F-8968-4A47-A502-52B551E2B7F8}"/>
              </a:ext>
            </a:extLst>
          </p:cNvPr>
          <p:cNvSpPr>
            <a:spLocks noGrp="1"/>
          </p:cNvSpPr>
          <p:nvPr/>
        </p:nvSpPr>
        <p:spPr>
          <a:xfrm>
            <a:off x="3962400" y="24955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344A"/>
                </a:solidFill>
              </a:defRPr>
            </a:pPr>
            <a:r>
              <a:rPr sz="1500" b="1">
                <a:solidFill>
                  <a:srgbClr val="12344A"/>
                </a:solidFill>
              </a:rPr>
              <a:t>Stress Testing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1A27FF-1A14-47D3-A8F8-29AF3DBC3D87}"/>
              </a:ext>
            </a:extLst>
          </p:cNvPr>
          <p:cNvSpPr>
            <a:spLocks noGrp="1"/>
          </p:cNvSpPr>
          <p:nvPr/>
        </p:nvSpPr>
        <p:spPr>
          <a:xfrm>
            <a:off x="3562350" y="2895600"/>
            <a:ext cx="1943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Run end-to-end tests on</a:t>
            </a:r>
          </a:p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difficult edge cases.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FD2A0A7-ED81-4578-8DC4-8864A0C2CF99}"/>
              </a:ext>
            </a:extLst>
          </p:cNvPr>
          <p:cNvSpPr>
            <a:spLocks noGrp="1"/>
          </p:cNvSpPr>
          <p:nvPr/>
        </p:nvSpPr>
        <p:spPr>
          <a:xfrm>
            <a:off x="5924550" y="2343150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6FBA586-7C80-4FE5-93AF-56B92668E87E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266700" cy="266700"/>
          </a:xfrm>
          <a:prstGeom prst="ellipse">
            <a:avLst/>
          </a:prstGeom>
          <a:solidFill>
            <a:srgbClr val="E37C6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8504BF-E1A2-4E95-9793-34FC41387FC4}"/>
              </a:ext>
            </a:extLst>
          </p:cNvPr>
          <p:cNvSpPr>
            <a:spLocks noGrp="1"/>
          </p:cNvSpPr>
          <p:nvPr/>
        </p:nvSpPr>
        <p:spPr>
          <a:xfrm>
            <a:off x="6496050" y="24955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344A"/>
                </a:solidFill>
              </a:defRPr>
            </a:pPr>
            <a:r>
              <a:rPr sz="1500" b="1">
                <a:solidFill>
                  <a:srgbClr val="12344A"/>
                </a:solidFill>
              </a:rPr>
              <a:t>Product Polish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3BBB4F-0475-4E6A-B741-C2D8B695C53D}"/>
              </a:ext>
            </a:extLst>
          </p:cNvPr>
          <p:cNvSpPr>
            <a:spLocks noGrp="1"/>
          </p:cNvSpPr>
          <p:nvPr/>
        </p:nvSpPr>
        <p:spPr>
          <a:xfrm>
            <a:off x="6096000" y="2895600"/>
            <a:ext cx="1943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Refactor bottlenecks and improve</a:t>
            </a:r>
          </a:p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usability.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6AE15FF-BA00-45CC-9458-784BDF2AE038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ACBAD22-E5FF-40D5-8D46-1F308FF1BCB8}"/>
              </a:ext>
            </a:extLst>
          </p:cNvPr>
          <p:cNvSpPr>
            <a:spLocks noGrp="1"/>
          </p:cNvSpPr>
          <p:nvPr/>
        </p:nvSpPr>
        <p:spPr>
          <a:xfrm>
            <a:off x="8629650" y="2514600"/>
            <a:ext cx="266700" cy="266700"/>
          </a:xfrm>
          <a:prstGeom prst="ellipse">
            <a:avLst/>
          </a:prstGeom>
          <a:solidFill>
            <a:srgbClr val="1D7B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4C833F-3679-466E-BE77-59068FA49FE8}"/>
              </a:ext>
            </a:extLst>
          </p:cNvPr>
          <p:cNvSpPr>
            <a:spLocks noGrp="1"/>
          </p:cNvSpPr>
          <p:nvPr/>
        </p:nvSpPr>
        <p:spPr>
          <a:xfrm>
            <a:off x="9029700" y="24955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344A"/>
                </a:solidFill>
              </a:defRPr>
            </a:pPr>
            <a:r>
              <a:rPr sz="1500" b="1">
                <a:solidFill>
                  <a:srgbClr val="12344A"/>
                </a:solidFill>
              </a:rPr>
              <a:t>Final Demo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0E738D-0103-4D12-863D-ACCD11C5006C}"/>
              </a:ext>
            </a:extLst>
          </p:cNvPr>
          <p:cNvSpPr>
            <a:spLocks noGrp="1"/>
          </p:cNvSpPr>
          <p:nvPr/>
        </p:nvSpPr>
        <p:spPr>
          <a:xfrm>
            <a:off x="8629650" y="2895600"/>
            <a:ext cx="1943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Prepare materials and rehearse</a:t>
            </a:r>
          </a:p>
          <a:p>
            <a:pPr algn="l">
              <a:defRPr sz="1125" b="0">
                <a:solidFill>
                  <a:srgbClr val="17232E"/>
                </a:solidFill>
              </a:defRPr>
            </a:pPr>
            <a:r>
              <a:rPr sz="1125" b="0">
                <a:solidFill>
                  <a:srgbClr val="17232E"/>
                </a:solidFill>
              </a:rPr>
              <a:t>Q&amp;A.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43BFB2D-1B7B-4006-B5BF-D3ECCE6EC754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10858500" cy="1219200"/>
          </a:xfrm>
          <a:prstGeom prst="roundRect">
            <a:avLst>
              <a:gd name="adj" fmla="val 7407"/>
            </a:avLst>
          </a:prstGeom>
          <a:solidFill>
            <a:srgbClr val="1234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CA0C37-B8EE-480F-9EF5-80F5FFF61F79}"/>
              </a:ext>
            </a:extLst>
          </p:cNvPr>
          <p:cNvSpPr>
            <a:spLocks noGrp="1"/>
          </p:cNvSpPr>
          <p:nvPr/>
        </p:nvSpPr>
        <p:spPr>
          <a:xfrm>
            <a:off x="952500" y="5372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B85C"/>
                </a:solidFill>
              </a:defRPr>
            </a:pPr>
            <a:r>
              <a:rPr sz="1200" b="1">
                <a:solidFill>
                  <a:srgbClr val="E1B85C"/>
                </a:solidFill>
              </a:rPr>
              <a:t>Target outcome: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579D68-E573-40D7-AAF6-96F6DFA19F22}"/>
              </a:ext>
            </a:extLst>
          </p:cNvPr>
          <p:cNvSpPr>
            <a:spLocks noGrp="1"/>
          </p:cNvSpPr>
          <p:nvPr/>
        </p:nvSpPr>
        <p:spPr>
          <a:xfrm>
            <a:off x="952500" y="5638800"/>
            <a:ext cx="942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Deliver a reliable AI support and review-analysis platform that is technically solid, commercially meaningful, and ready for the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099018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DocSecurity>0</DocSecurity>
  <PresentationFormat>宽屏</PresentationFormat>
  <Paragraphs>144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德 刘</cp:lastModifiedBy>
  <cp:revision>1</cp:revision>
  <dcterms:created xsi:type="dcterms:W3CDTF">2026-04-21T13:58:00Z</dcterms:created>
  <dcterms:modified xsi:type="dcterms:W3CDTF">2026-04-21T13:59:53Z</dcterms:modified>
</cp:coreProperties>
</file>